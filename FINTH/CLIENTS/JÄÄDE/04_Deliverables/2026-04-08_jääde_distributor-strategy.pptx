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4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78440" y="329184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C7A52"/>
                </a:solidFill>
                <a:latin typeface="Safiro"/>
              </a:rPr>
              <a:t>FINTH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9144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5F3EF"/>
                </a:solidFill>
                <a:latin typeface="Safiro"/>
              </a:rPr>
              <a:t>Thailand
distributor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C7A52"/>
                </a:solidFill>
                <a:latin typeface="Safiro"/>
              </a:rPr>
              <a:t>JÄÄDE Water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0"/>
            <a:ext cx="3200400" cy="20116"/>
          </a:xfrm>
          <a:prstGeom prst="rect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224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088"/>
                </a:solidFill>
                <a:latin typeface="Safiro"/>
              </a:rPr>
              <a:t>April 2026  ·  Prepared by FINTH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50292" cy="566928"/>
          </a:xfrm>
          <a:prstGeom prst="rect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4A3E"/>
                </a:solidFill>
                <a:latin typeface="Safiro"/>
              </a:rPr>
              <a:t>Settle the exclusivity model before any outreach begins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8078"/>
                </a:solidFill>
                <a:latin typeface="Safiro"/>
              </a:rPr>
              <a:t>This decision changes who FINTH approaches first and how every conversation is framed.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3639312" cy="5074920"/>
          </a:xfrm>
          <a:prstGeom prst="rect">
            <a:avLst/>
          </a:prstGeom>
          <a:solidFill>
            <a:srgbClr val="E8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57276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B8078"/>
                </a:solidFill>
                <a:latin typeface="Safir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048256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4A3E"/>
                </a:solidFill>
                <a:latin typeface="Safiro"/>
              </a:rPr>
              <a:t>Single exclusive
nationwide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807208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655E"/>
                </a:solidFill>
                <a:latin typeface="Safiro"/>
              </a:rPr>
              <a:t>Simplest to manage and fastest to launch. Creates high dependency on one counterparty across all Thai channels. Almost certain channel mismatch as JÄÄDE grows beyond hospitality into retail, schools and e-commerce. Distributor replaces brand rather than serving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5870448"/>
            <a:ext cx="3236976" cy="1463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60533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8078"/>
                </a:solidFill>
                <a:latin typeface="Safiro"/>
              </a:rPr>
              <a:t>Lower priority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1389888"/>
            <a:ext cx="3639312" cy="5074920"/>
          </a:xfrm>
          <a:prstGeom prst="rect">
            <a:avLst/>
          </a:prstGeom>
          <a:solidFill>
            <a:srgbClr val="2E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9392" y="1389888"/>
            <a:ext cx="3639312" cy="54864"/>
          </a:xfrm>
          <a:prstGeom prst="rect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157276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C7A52"/>
                </a:solidFill>
                <a:latin typeface="Safir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048256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3EF"/>
                </a:solidFill>
                <a:latin typeface="Safiro"/>
              </a:rPr>
              <a:t>Split by channel
with exclusivity per lane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807208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C2BC"/>
                </a:solidFill>
                <a:latin typeface="Safiro"/>
              </a:rPr>
              <a:t>One HoReCa specialist for hotels and bars. One food service partner for kitchens, catering and institutional buyers. Retail and scale added in later phases. Each partner holds exclusivity within a precisely defined lane, preserving JÄÄDE's long-term flexibility and negotiating leverage.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59" y="5870448"/>
            <a:ext cx="3236976" cy="14630"/>
          </a:xfrm>
          <a:prstGeom prst="rect">
            <a:avLst/>
          </a:prstGeom>
          <a:solidFill>
            <a:srgbClr val="3E6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60533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C7A52"/>
                </a:solidFill>
                <a:latin typeface="Safiro"/>
              </a:rPr>
              <a:t>FINTH recommends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47304" y="1389888"/>
            <a:ext cx="3639312" cy="5074920"/>
          </a:xfrm>
          <a:prstGeom prst="rect">
            <a:avLst/>
          </a:prstGeom>
          <a:solidFill>
            <a:srgbClr val="E8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157276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B8078"/>
                </a:solidFill>
                <a:latin typeface="Safir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048256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4A3E"/>
                </a:solidFill>
                <a:latin typeface="Safiro"/>
              </a:rPr>
              <a:t>Non-exclusive
initially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2807208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655E"/>
                </a:solidFill>
                <a:latin typeface="Safiro"/>
              </a:rPr>
              <a:t>Lowest dependency risk on paper. Weakest brand control in practice. Real risk of pricing inconsistency and channel conflict that permanently damages premium positioning. Once a distributor sets the wrong market price it is very difficult to recover.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48472" y="5870448"/>
            <a:ext cx="3236976" cy="1463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60533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8078"/>
                </a:solidFill>
                <a:latin typeface="Safiro"/>
              </a:rPr>
              <a:t>Not recommended at launch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50292" cy="566928"/>
          </a:xfrm>
          <a:prstGeom prst="rect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4A3E"/>
                </a:solidFill>
                <a:latin typeface="Safiro"/>
              </a:rPr>
              <a:t>10 distributors assessed — three archetypes, three outreach waves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8078"/>
                </a:solidFill>
                <a:latin typeface="Safiro"/>
              </a:rPr>
              <a:t>Wave sequence based on mineral water credentials, channel fit, portfolio conflict and geographic coverage.</a:t>
            </a:r>
          </a:p>
        </p:txBody>
      </p:sp>
      <p:sp>
        <p:nvSpPr>
          <p:cNvPr id="5" name="Oval 4"/>
          <p:cNvSpPr/>
          <p:nvPr/>
        </p:nvSpPr>
        <p:spPr>
          <a:xfrm>
            <a:off x="9692640" y="950976"/>
            <a:ext cx="128016" cy="128016"/>
          </a:xfrm>
          <a:prstGeom prst="ellipse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19" y="932688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7A52"/>
                </a:solidFill>
                <a:latin typeface="Safiro"/>
              </a:rPr>
              <a:t>Wave 1  —  contact within 2 weeks</a:t>
            </a:r>
          </a:p>
        </p:txBody>
      </p:sp>
      <p:sp>
        <p:nvSpPr>
          <p:cNvPr id="7" name="Oval 6"/>
          <p:cNvSpPr/>
          <p:nvPr/>
        </p:nvSpPr>
        <p:spPr>
          <a:xfrm>
            <a:off x="9692640" y="1188720"/>
            <a:ext cx="128016" cy="128016"/>
          </a:xfrm>
          <a:prstGeom prst="ellipse">
            <a:avLst/>
          </a:prstGeom>
          <a:solidFill>
            <a:srgbClr val="5A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19" y="117043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7A6E"/>
                </a:solidFill>
                <a:latin typeface="Safiro"/>
              </a:rPr>
              <a:t>Wave 2  —  parallel, weeks 2–4</a:t>
            </a:r>
          </a:p>
        </p:txBody>
      </p:sp>
      <p:sp>
        <p:nvSpPr>
          <p:cNvPr id="9" name="Oval 8"/>
          <p:cNvSpPr/>
          <p:nvPr/>
        </p:nvSpPr>
        <p:spPr>
          <a:xfrm>
            <a:off x="9692640" y="1426464"/>
            <a:ext cx="128016" cy="128016"/>
          </a:xfrm>
          <a:prstGeom prst="ellipse">
            <a:avLst/>
          </a:prstGeom>
          <a:solidFill>
            <a:srgbClr val="9AA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19" y="1408176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A8A4"/>
                </a:solidFill>
                <a:latin typeface="Safiro"/>
              </a:rPr>
              <a:t>Wave 3  —  later stage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353312"/>
            <a:ext cx="3566160" cy="5138928"/>
          </a:xfrm>
          <a:prstGeom prst="rect">
            <a:avLst/>
          </a:prstGeom>
          <a:solidFill>
            <a:srgbClr val="E8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353312"/>
            <a:ext cx="3566160" cy="420624"/>
          </a:xfrm>
          <a:prstGeom prst="rect">
            <a:avLst/>
          </a:prstGeom>
          <a:solidFill>
            <a:srgbClr val="2E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144475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F3EF"/>
                </a:solidFill>
                <a:latin typeface="Safiro"/>
              </a:rPr>
              <a:t>Water &amp; lifestyle specialists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8807" y="1353312"/>
            <a:ext cx="3566160" cy="5138928"/>
          </a:xfrm>
          <a:prstGeom prst="rect">
            <a:avLst/>
          </a:prstGeom>
          <a:solidFill>
            <a:srgbClr val="E8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78807" y="1353312"/>
            <a:ext cx="3566160" cy="420624"/>
          </a:xfrm>
          <a:prstGeom prst="rect">
            <a:avLst/>
          </a:prstGeom>
          <a:solidFill>
            <a:srgbClr val="2E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399" y="144475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F3EF"/>
                </a:solidFill>
                <a:latin typeface="Safiro"/>
              </a:rPr>
              <a:t>Broad beverage distributors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46136" y="1353312"/>
            <a:ext cx="3566160" cy="5138928"/>
          </a:xfrm>
          <a:prstGeom prst="rect">
            <a:avLst/>
          </a:prstGeom>
          <a:solidFill>
            <a:srgbClr val="E8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6136" y="1353312"/>
            <a:ext cx="3566160" cy="420624"/>
          </a:xfrm>
          <a:prstGeom prst="rect">
            <a:avLst/>
          </a:prstGeom>
          <a:solidFill>
            <a:srgbClr val="2E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0727" y="144475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F3EF"/>
                </a:solidFill>
                <a:latin typeface="Safiro"/>
              </a:rPr>
              <a:t>Food service &amp; modern trade</a:t>
            </a:r>
          </a:p>
        </p:txBody>
      </p:sp>
      <p:sp>
        <p:nvSpPr>
          <p:cNvPr id="20" name="Oval 19"/>
          <p:cNvSpPr/>
          <p:nvPr/>
        </p:nvSpPr>
        <p:spPr>
          <a:xfrm>
            <a:off x="539496" y="1938528"/>
            <a:ext cx="128016" cy="128016"/>
          </a:xfrm>
          <a:prstGeom prst="ellipse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1865376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530"/>
                </a:solidFill>
                <a:latin typeface="Safiro"/>
              </a:rPr>
              <a:t>Italthai Hospitality (IHC)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" y="2112264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8078"/>
                </a:solidFill>
                <a:latin typeface="Safiro"/>
              </a:rPr>
              <a:t>Sole importer Ogeu mineral water; luxury hospitality network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9496" y="2487168"/>
            <a:ext cx="3337560" cy="12801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9496" y="2651760"/>
            <a:ext cx="128016" cy="128016"/>
          </a:xfrm>
          <a:prstGeom prst="ellipse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" y="257860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530"/>
                </a:solidFill>
                <a:latin typeface="Safiro"/>
              </a:rPr>
              <a:t>Lovely Wines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" y="282549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8078"/>
                </a:solidFill>
                <a:latin typeface="Safiro"/>
              </a:rPr>
              <a:t>Explicitly names water as core category alongside wine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9496" y="3200400"/>
            <a:ext cx="3337560" cy="12801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9496" y="3364992"/>
            <a:ext cx="128016" cy="128016"/>
          </a:xfrm>
          <a:prstGeom prst="ellipse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" y="3291840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530"/>
                </a:solidFill>
                <a:latin typeface="Safiro"/>
              </a:rPr>
              <a:t>Water Library Hospitality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" y="3538728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8078"/>
                </a:solidFill>
                <a:latin typeface="Safiro"/>
              </a:rPr>
              <a:t>Built around premium water concept; Singapore parent co.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9496" y="3913632"/>
            <a:ext cx="3337560" cy="12801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06823" y="1938528"/>
            <a:ext cx="128016" cy="128016"/>
          </a:xfrm>
          <a:prstGeom prst="ellipse">
            <a:avLst/>
          </a:prstGeom>
          <a:solidFill>
            <a:srgbClr val="5A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07992" y="1865376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530"/>
                </a:solidFill>
                <a:latin typeface="Safiro"/>
              </a:rPr>
              <a:t>Bangkok Beer &amp; Beverages (BB&amp;B)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07992" y="2112264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8078"/>
                </a:solidFill>
                <a:latin typeface="Safiro"/>
              </a:rPr>
              <a:t>Multi-city coverage; Santa Vittoria conflict to resolve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06823" y="2487168"/>
            <a:ext cx="3337560" cy="12801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306823" y="2651760"/>
            <a:ext cx="128016" cy="128016"/>
          </a:xfrm>
          <a:prstGeom prst="ellipse">
            <a:avLst/>
          </a:prstGeom>
          <a:solidFill>
            <a:srgbClr val="9AA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07992" y="257860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530"/>
                </a:solidFill>
                <a:latin typeface="Safiro"/>
              </a:rPr>
              <a:t>Ambrose Wine &amp; Spirits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07992" y="282549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8078"/>
                </a:solidFill>
                <a:latin typeface="Safiro"/>
              </a:rPr>
              <a:t>Distributes VOSS — direct Nordic water competitor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06823" y="3200400"/>
            <a:ext cx="3337560" cy="12801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06823" y="3364992"/>
            <a:ext cx="128016" cy="128016"/>
          </a:xfrm>
          <a:prstGeom prst="ellipse">
            <a:avLst/>
          </a:prstGeom>
          <a:solidFill>
            <a:srgbClr val="9AA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07992" y="3291840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530"/>
                </a:solidFill>
                <a:latin typeface="Safiro"/>
              </a:rPr>
              <a:t>IWS (Emirates/MMI joint venture)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07992" y="3538728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8078"/>
                </a:solidFill>
                <a:latin typeface="Safiro"/>
              </a:rPr>
              <a:t>3,600 outlets; suited to Year 2 scale, not launch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06823" y="3913632"/>
            <a:ext cx="3337560" cy="12801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074152" y="1938528"/>
            <a:ext cx="128016" cy="128016"/>
          </a:xfrm>
          <a:prstGeom prst="ellipse">
            <a:avLst/>
          </a:prstGeom>
          <a:solidFill>
            <a:srgbClr val="5A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75319" y="1865376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530"/>
                </a:solidFill>
                <a:latin typeface="Safiro"/>
              </a:rPr>
              <a:t>Siam Food Services / FOODSERVICE APME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19" y="2112264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8078"/>
                </a:solidFill>
                <a:latin typeface="Safiro"/>
              </a:rPr>
              <a:t>7 countries; airline caterers, hotels, gourmet shops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74152" y="2487168"/>
            <a:ext cx="3337560" cy="12801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074152" y="2651760"/>
            <a:ext cx="128016" cy="128016"/>
          </a:xfrm>
          <a:prstGeom prst="ellipse">
            <a:avLst/>
          </a:prstGeom>
          <a:solidFill>
            <a:srgbClr val="5A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75319" y="257860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530"/>
                </a:solidFill>
                <a:latin typeface="Safiro"/>
              </a:rPr>
              <a:t>Vanichwathana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19" y="282549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8078"/>
                </a:solidFill>
                <a:latin typeface="Safiro"/>
              </a:rPr>
              <a:t>55+ years luxury hotel procurement relationships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74152" y="3200400"/>
            <a:ext cx="3337560" cy="12801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074152" y="3364992"/>
            <a:ext cx="128016" cy="128016"/>
          </a:xfrm>
          <a:prstGeom prst="ellipse">
            <a:avLst/>
          </a:prstGeom>
          <a:solidFill>
            <a:srgbClr val="9AA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75319" y="3291840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530"/>
                </a:solidFill>
                <a:latin typeface="Safiro"/>
              </a:rPr>
              <a:t>3sixty food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75319" y="3538728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8078"/>
                </a:solidFill>
                <a:latin typeface="Safiro"/>
              </a:rPr>
              <a:t>Exclusivity by default; retail and modern trade focus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74152" y="3913632"/>
            <a:ext cx="3337560" cy="12801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074152" y="4078224"/>
            <a:ext cx="128016" cy="128016"/>
          </a:xfrm>
          <a:prstGeom prst="ellipse">
            <a:avLst/>
          </a:prstGeom>
          <a:solidFill>
            <a:srgbClr val="9AA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75319" y="4005072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530"/>
                </a:solidFill>
                <a:latin typeface="Safiro"/>
              </a:rPr>
              <a:t>PACBEV Thailand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5319" y="4251960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8078"/>
                </a:solidFill>
                <a:latin typeface="Safiro"/>
              </a:rPr>
              <a:t>Singapore link; craft-focused; beer-led, smaller scale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74152" y="4626864"/>
            <a:ext cx="3337560" cy="12801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50292" cy="566928"/>
          </a:xfrm>
          <a:prstGeom prst="rect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4A3E"/>
                </a:solidFill>
                <a:latin typeface="Safiro"/>
              </a:rPr>
              <a:t>Wave 1 — contact within two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8078"/>
                </a:solidFill>
                <a:latin typeface="Safiro"/>
              </a:rPr>
              <a:t>Three distributors with the clearest mineral water credentials and lowest portfolio conflict. Open with a meeting request only — do not send a full pitch deck cold.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3639312" cy="5074920"/>
          </a:xfrm>
          <a:prstGeom prst="rect">
            <a:avLst/>
          </a:prstGeom>
          <a:solidFill>
            <a:srgbClr val="E8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389888"/>
            <a:ext cx="3639312" cy="54864"/>
          </a:xfrm>
          <a:prstGeom prst="rect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536192"/>
            <a:ext cx="3319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E4A3E"/>
                </a:solidFill>
                <a:latin typeface="Safiro"/>
              </a:rPr>
              <a:t>Italthai Hospitality (IHC)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938528"/>
            <a:ext cx="3236976" cy="1463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029967"/>
            <a:ext cx="3319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C7A52"/>
                </a:solidFill>
                <a:latin typeface="Safiro"/>
              </a:rPr>
              <a:t>WHY JÄÄDE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258568"/>
            <a:ext cx="331927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655E"/>
                </a:solidFill>
                <a:latin typeface="Safiro"/>
              </a:rPr>
              <a:t>Sole Thai distributor of Ogeu premium French mineral water, proven in building luxury lifestyle F&amp;B brands in top venues. Operates TWG Tea salons at Siam Paragon, Emporium, IconSiam and Central Chidlom. Italthai Group's own hospitality assets provide immediate premium placement without requiring distributor persuasion.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" y="4178808"/>
            <a:ext cx="3236976" cy="1463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4270248"/>
            <a:ext cx="3319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8078"/>
                </a:solidFill>
                <a:latin typeface="Safiro"/>
              </a:rPr>
              <a:t>WATCHPOINT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4480560"/>
            <a:ext cx="331927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8078"/>
                </a:solidFill>
                <a:latin typeface="Safiro"/>
              </a:rPr>
              <a:t>Confirm internal appetite to add another premium water alongside Ogeu. Exclusivity by account tier or product occasion may be required to avoid category cannibalisation.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" y="5705856"/>
            <a:ext cx="3236976" cy="1463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5797296"/>
            <a:ext cx="3319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C7A52"/>
                </a:solidFill>
                <a:latin typeface="Safiro"/>
              </a:rPr>
              <a:t>CONTACT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016752"/>
            <a:ext cx="3319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655E"/>
                </a:solidFill>
                <a:latin typeface="Safiro"/>
              </a:rPr>
              <a:t>info@italthaigroup.com  /  +66 2 319 1031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2" y="1389888"/>
            <a:ext cx="3639312" cy="5074920"/>
          </a:xfrm>
          <a:prstGeom prst="rect">
            <a:avLst/>
          </a:prstGeom>
          <a:solidFill>
            <a:srgbClr val="E8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9392" y="1389888"/>
            <a:ext cx="3639312" cy="54864"/>
          </a:xfrm>
          <a:prstGeom prst="rect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1536192"/>
            <a:ext cx="3319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E4A3E"/>
                </a:solidFill>
                <a:latin typeface="Safiro"/>
              </a:rPr>
              <a:t>Lovely Wines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59" y="1938528"/>
            <a:ext cx="3236976" cy="1463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2029967"/>
            <a:ext cx="3319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C7A52"/>
                </a:solidFill>
                <a:latin typeface="Safiro"/>
              </a:rPr>
              <a:t>WHY JÄÄDE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2258568"/>
            <a:ext cx="331927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655E"/>
                </a:solidFill>
                <a:latin typeface="Safiro"/>
              </a:rPr>
              <a:t>One of the very few Thai distributors that explicitly names mineral water as a core pillar alongside wine and spirits. States a goal to be the most trusted name for fine experiences in water, wine and exclusive beverages — a philosophy that mirrors JÄÄDE's positioning exactly. Nationwide reach across Thailand's finest hotels, restaurants and superstores.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59" y="4178808"/>
            <a:ext cx="3236976" cy="1463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59" y="4270248"/>
            <a:ext cx="3319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8078"/>
                </a:solidFill>
                <a:latin typeface="Safiro"/>
              </a:rPr>
              <a:t>WATCHPOINT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4480560"/>
            <a:ext cx="331927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8078"/>
                </a:solidFill>
                <a:latin typeface="Safiro"/>
              </a:rPr>
              <a:t>Smaller portfolio than the largest beverage houses. Validate geographic scale and operational capacity in Phuket and Samui before agreeing any exclusive territory.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59" y="5705856"/>
            <a:ext cx="3236976" cy="1463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59" y="5797296"/>
            <a:ext cx="3319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C7A52"/>
                </a:solidFill>
                <a:latin typeface="Safiro"/>
              </a:rPr>
              <a:t>CONTACT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6016752"/>
            <a:ext cx="3319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655E"/>
                </a:solidFill>
                <a:latin typeface="Safiro"/>
              </a:rPr>
              <a:t>info@lovelywines.co.th  /  +66 2 318 1588  /  LINE @lovelywines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47304" y="1389888"/>
            <a:ext cx="3639312" cy="5074920"/>
          </a:xfrm>
          <a:prstGeom prst="rect">
            <a:avLst/>
          </a:prstGeom>
          <a:solidFill>
            <a:srgbClr val="E8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47304" y="1389888"/>
            <a:ext cx="3639312" cy="54864"/>
          </a:xfrm>
          <a:prstGeom prst="rect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2" y="1536192"/>
            <a:ext cx="3319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E4A3E"/>
                </a:solidFill>
                <a:latin typeface="Safiro"/>
              </a:rPr>
              <a:t>Water Library Hospitality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48472" y="1938528"/>
            <a:ext cx="3236976" cy="1463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48472" y="2029967"/>
            <a:ext cx="3319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C7A52"/>
                </a:solidFill>
                <a:latin typeface="Safiro"/>
              </a:rPr>
              <a:t>WHY JÄÄDE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2" y="2258568"/>
            <a:ext cx="331927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655E"/>
                </a:solidFill>
                <a:latin typeface="Safiro"/>
              </a:rPr>
              <a:t>The only Thai distributor built around premium water as a lifestyle concept. Water Library fine dining at Central Embassy is exactly the aspirational flagship placement JÄÄDE needs for its Thailand brand story. Singapore-based parent creates a direct commercial and cultural bridge to JÄÄDE Singapore that no other candidate offers.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48472" y="4178808"/>
            <a:ext cx="3236976" cy="1463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48472" y="4270248"/>
            <a:ext cx="3319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8078"/>
                </a:solidFill>
                <a:latin typeface="Safiro"/>
              </a:rPr>
              <a:t>WATCHPOINT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8472" y="4480560"/>
            <a:ext cx="331927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8078"/>
                </a:solidFill>
                <a:latin typeface="Safiro"/>
              </a:rPr>
              <a:t>Smaller distribution footprint outside Bangkok. Map existing premium water brand relationships before first meeting to understand potential conflicts.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48472" y="5705856"/>
            <a:ext cx="3236976" cy="1463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48472" y="5797296"/>
            <a:ext cx="3319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C7A52"/>
                </a:solidFill>
                <a:latin typeface="Safiro"/>
              </a:rPr>
              <a:t>CONTACT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72" y="6016752"/>
            <a:ext cx="3319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655E"/>
                </a:solidFill>
                <a:latin typeface="Safiro"/>
              </a:rPr>
              <a:t>Chamchuri@waterlibrary.com  /  +66 2 160 5188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50292" cy="566928"/>
          </a:xfrm>
          <a:prstGeom prst="rect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4A3E"/>
                </a:solidFill>
                <a:latin typeface="Safiro"/>
              </a:rPr>
              <a:t>Wave 2 and Wave 3 — approach in sequence as Wave 1 meetings 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8078"/>
                </a:solidFill>
                <a:latin typeface="Safiro"/>
              </a:rPr>
              <a:t>Wave 2 offers strong channel infrastructure. Wave 3 carries conflicts or suits later scaling phases and should not displace Wave 1 priority.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11365992" cy="347472"/>
          </a:xfrm>
          <a:prstGeom prst="rect">
            <a:avLst/>
          </a:prstGeom>
          <a:solidFill>
            <a:srgbClr val="2E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1499616"/>
            <a:ext cx="128016" cy="128016"/>
          </a:xfrm>
          <a:prstGeom prst="ellipse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44475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F3EF"/>
                </a:solidFill>
                <a:latin typeface="Safiro"/>
              </a:rPr>
              <a:t>Wave 2  —  approach in parallel with Wave 1, weeks 2 to 4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73936"/>
            <a:ext cx="11365992" cy="292608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8078"/>
                </a:solidFill>
                <a:latin typeface="Safiro"/>
              </a:rPr>
              <a:t>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182880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8078"/>
                </a:solidFill>
                <a:latin typeface="Safiro"/>
              </a:rPr>
              <a:t>Role in the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82880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8078"/>
                </a:solidFill>
                <a:latin typeface="Safiro"/>
              </a:rPr>
              <a:t>Key action before outreach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084831"/>
            <a:ext cx="11365992" cy="1078992"/>
          </a:xfrm>
          <a:prstGeom prst="rect">
            <a:avLst/>
          </a:prstGeom>
          <a:solidFill>
            <a:srgbClr val="E8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39496" y="2340863"/>
            <a:ext cx="128016" cy="128016"/>
          </a:xfrm>
          <a:prstGeom prst="ellipse">
            <a:avLst/>
          </a:prstGeom>
          <a:solidFill>
            <a:srgbClr val="5A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176272"/>
            <a:ext cx="3749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530"/>
                </a:solidFill>
                <a:latin typeface="Safiro"/>
              </a:rPr>
              <a:t>Bangkok Beer &amp; Beverages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176272"/>
            <a:ext cx="3749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8078"/>
                </a:solidFill>
                <a:latin typeface="Safiro"/>
              </a:rPr>
              <a:t>Premium beverage infrastructure; multi-city presence across Bangkok, Chiang Mai, Pattaya, Phuket and Samui. Already distributes Santa Vittoria mineral water.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176272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655E"/>
                </a:solidFill>
                <a:latin typeface="Safiro"/>
              </a:rPr>
              <a:t>Clarify Santa Vittoria positioning conflict first. If JÄÄDE can be differentiated by tier, occasion or Nordic origin story, approach as hotel bar and premium restaurant partner.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163824"/>
            <a:ext cx="11365992" cy="1078992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9496" y="3419856"/>
            <a:ext cx="128016" cy="128016"/>
          </a:xfrm>
          <a:prstGeom prst="ellipse">
            <a:avLst/>
          </a:prstGeom>
          <a:solidFill>
            <a:srgbClr val="5A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3255264"/>
            <a:ext cx="3749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530"/>
                </a:solidFill>
                <a:latin typeface="Safiro"/>
              </a:rPr>
              <a:t>Vanichwathana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3255264"/>
            <a:ext cx="3749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8078"/>
                </a:solidFill>
                <a:latin typeface="Safiro"/>
              </a:rPr>
              <a:t>55 years of luxury hotel procurement relationships. Curated high-end portfolio. Active brand-building through wine dinners, tastings and chef collaborations.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3255264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655E"/>
                </a:solidFill>
                <a:latin typeface="Safiro"/>
              </a:rPr>
              <a:t>Use for a selective Bangkok flagship hotel programme where relationship depth and prestige matter more than volume. Not a volume play.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242816"/>
            <a:ext cx="11365992" cy="1078992"/>
          </a:xfrm>
          <a:prstGeom prst="rect">
            <a:avLst/>
          </a:prstGeom>
          <a:solidFill>
            <a:srgbClr val="E8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9496" y="4498848"/>
            <a:ext cx="128016" cy="128016"/>
          </a:xfrm>
          <a:prstGeom prst="ellipse">
            <a:avLst/>
          </a:prstGeom>
          <a:solidFill>
            <a:srgbClr val="5A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" y="4334255"/>
            <a:ext cx="3749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530"/>
                </a:solidFill>
                <a:latin typeface="Safiro"/>
              </a:rPr>
              <a:t>Siam Food Services
/ FOODSERVICE APME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79" y="4334255"/>
            <a:ext cx="3749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8078"/>
                </a:solidFill>
                <a:latin typeface="Safiro"/>
              </a:rPr>
              <a:t>Regional leader across 7 countries and 20 cities. Serves top hotels, fine dining, gourmet shops and airline caterers. Beverage range includes still and sparkling water.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4334255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655E"/>
                </a:solidFill>
                <a:latin typeface="Safiro"/>
              </a:rPr>
              <a:t>Position JÄÄDE as a premium chef table and service water alongside high-end food ingredients — not as a volume beverage line.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431536"/>
            <a:ext cx="11365992" cy="3474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02920" y="5541264"/>
            <a:ext cx="128016" cy="128016"/>
          </a:xfrm>
          <a:prstGeom prst="ellipse">
            <a:avLst/>
          </a:prstGeom>
          <a:solidFill>
            <a:srgbClr val="9AA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4864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4A3E"/>
                </a:solidFill>
                <a:latin typeface="Safiro"/>
              </a:rPr>
              <a:t>Wave 3  —  approach only after Wave 1 and 2 are assessed, or as backup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815584"/>
            <a:ext cx="11365992" cy="713232"/>
          </a:xfrm>
          <a:prstGeom prst="rect">
            <a:avLst/>
          </a:prstGeom>
          <a:solidFill>
            <a:srgbClr val="EE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39496" y="5998464"/>
            <a:ext cx="128016" cy="128016"/>
          </a:xfrm>
          <a:prstGeom prst="ellipse">
            <a:avLst/>
          </a:prstGeom>
          <a:solidFill>
            <a:srgbClr val="9AA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" y="5888736"/>
            <a:ext cx="3749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530"/>
                </a:solidFill>
                <a:latin typeface="Safiro"/>
              </a:rPr>
              <a:t>Ambrose Wine &amp; Spirits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79" y="5888736"/>
            <a:ext cx="3749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8078"/>
                </a:solidFill>
                <a:latin typeface="Safiro"/>
              </a:rPr>
              <a:t>Distributes VOSS — JÄÄDE's closest Nordic competitor. Real deprioritisation risk.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5888736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655E"/>
                </a:solidFill>
                <a:latin typeface="Safiro"/>
              </a:rPr>
              <a:t>After Wave 1 negotiations complete. Use as leverage only if IHC or Lovely Wines move slowly.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6528816"/>
            <a:ext cx="11365992" cy="713232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9496" y="6711696"/>
            <a:ext cx="128016" cy="128016"/>
          </a:xfrm>
          <a:prstGeom prst="ellipse">
            <a:avLst/>
          </a:prstGeom>
          <a:solidFill>
            <a:srgbClr val="9AA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664" y="6601968"/>
            <a:ext cx="3749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530"/>
                </a:solidFill>
                <a:latin typeface="Safiro"/>
              </a:rPr>
              <a:t>IWS (Emirates/MMI)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79" y="6601968"/>
            <a:ext cx="3749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8078"/>
                </a:solidFill>
                <a:latin typeface="Safiro"/>
              </a:rPr>
              <a:t>3,600 outlet footprint dilutes premium narrative in launch phase.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660196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655E"/>
                </a:solidFill>
                <a:latin typeface="Safiro"/>
              </a:rPr>
              <a:t>Year 2 — once anchor hotel accounts are set and JÄÄDE wants scale into airlines and duty free.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7242048"/>
            <a:ext cx="11365992" cy="713232"/>
          </a:xfrm>
          <a:prstGeom prst="rect">
            <a:avLst/>
          </a:prstGeom>
          <a:solidFill>
            <a:srgbClr val="EE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39496" y="7424927"/>
            <a:ext cx="128016" cy="128016"/>
          </a:xfrm>
          <a:prstGeom prst="ellipse">
            <a:avLst/>
          </a:prstGeom>
          <a:solidFill>
            <a:srgbClr val="9AA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" y="7315200"/>
            <a:ext cx="3749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530"/>
                </a:solidFill>
                <a:latin typeface="Safiro"/>
              </a:rPr>
              <a:t>3sixty food  /  PACBEV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79" y="7315200"/>
            <a:ext cx="3749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8078"/>
                </a:solidFill>
                <a:latin typeface="Safiro"/>
              </a:rPr>
              <a:t>3sixty: retail/modern trade focus. PACBEV: beer-led, smaller scale.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73152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655E"/>
                </a:solidFill>
                <a:latin typeface="Safiro"/>
              </a:rPr>
              <a:t>Boutique supplements to a primary partner. Neither suited as primary hospitality route.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50292" cy="566928"/>
          </a:xfrm>
          <a:prstGeom prst="rect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4A3E"/>
                </a:solidFill>
                <a:latin typeface="Safiro"/>
              </a:rPr>
              <a:t>Three-party operating model — roles separated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8078"/>
                </a:solidFill>
                <a:latin typeface="Safiro"/>
              </a:rPr>
              <a:t>This structure keeps FINTH out of the legal importer role and inventory ownership while giving FINTH visibility and control to protect brand architecture and reporting quality.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2706624" cy="4572000"/>
          </a:xfrm>
          <a:prstGeom prst="rect">
            <a:avLst/>
          </a:prstGeom>
          <a:solidFill>
            <a:srgbClr val="2E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2706624" cy="54864"/>
          </a:xfrm>
          <a:prstGeom prst="rect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499616"/>
            <a:ext cx="24505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5F3EF"/>
                </a:solidFill>
                <a:latin typeface="Safiro"/>
              </a:rPr>
              <a:t>JÄÄDE Singapore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847088"/>
            <a:ext cx="24505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F3EF"/>
                </a:solidFill>
                <a:latin typeface="Safiro"/>
              </a:rPr>
              <a:t>BRAND OWNER + DECISION MAKER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2139696"/>
            <a:ext cx="2377440" cy="12801"/>
          </a:xfrm>
          <a:prstGeom prst="rect">
            <a:avLst/>
          </a:prstGeom>
          <a:solidFill>
            <a:srgbClr val="3E6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6072" y="2395728"/>
            <a:ext cx="109728" cy="109728"/>
          </a:xfrm>
          <a:prstGeom prst="ellipse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2322576"/>
            <a:ext cx="224942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3EF"/>
                </a:solidFill>
                <a:latin typeface="Safiro"/>
              </a:rPr>
              <a:t>Final approval on pricing guardrails</a:t>
            </a:r>
          </a:p>
        </p:txBody>
      </p:sp>
      <p:sp>
        <p:nvSpPr>
          <p:cNvPr id="12" name="Oval 11"/>
          <p:cNvSpPr/>
          <p:nvPr/>
        </p:nvSpPr>
        <p:spPr>
          <a:xfrm>
            <a:off x="576072" y="3108960"/>
            <a:ext cx="109728" cy="109728"/>
          </a:xfrm>
          <a:prstGeom prst="ellipse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3035808"/>
            <a:ext cx="224942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3EF"/>
                </a:solidFill>
                <a:latin typeface="Safiro"/>
              </a:rPr>
              <a:t>Distributor appointment decisions</a:t>
            </a:r>
          </a:p>
        </p:txBody>
      </p:sp>
      <p:sp>
        <p:nvSpPr>
          <p:cNvPr id="14" name="Oval 13"/>
          <p:cNvSpPr/>
          <p:nvPr/>
        </p:nvSpPr>
        <p:spPr>
          <a:xfrm>
            <a:off x="576072" y="3822191"/>
            <a:ext cx="109728" cy="109728"/>
          </a:xfrm>
          <a:prstGeom prst="ellipse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3749039"/>
            <a:ext cx="224942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3EF"/>
                </a:solidFill>
                <a:latin typeface="Safiro"/>
              </a:rPr>
              <a:t>Brand positioning and product specs</a:t>
            </a:r>
          </a:p>
        </p:txBody>
      </p:sp>
      <p:sp>
        <p:nvSpPr>
          <p:cNvPr id="16" name="Oval 15"/>
          <p:cNvSpPr/>
          <p:nvPr/>
        </p:nvSpPr>
        <p:spPr>
          <a:xfrm>
            <a:off x="576072" y="4535423"/>
            <a:ext cx="109728" cy="109728"/>
          </a:xfrm>
          <a:prstGeom prst="ellipse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" y="4462271"/>
            <a:ext cx="224942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3EF"/>
                </a:solidFill>
                <a:latin typeface="Safiro"/>
              </a:rPr>
              <a:t>Performance targets and KPIs</a:t>
            </a:r>
          </a:p>
        </p:txBody>
      </p:sp>
      <p:sp>
        <p:nvSpPr>
          <p:cNvPr id="18" name="Oval 17"/>
          <p:cNvSpPr/>
          <p:nvPr/>
        </p:nvSpPr>
        <p:spPr>
          <a:xfrm>
            <a:off x="576072" y="5248656"/>
            <a:ext cx="109728" cy="109728"/>
          </a:xfrm>
          <a:prstGeom prst="ellipse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5175504"/>
            <a:ext cx="224942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3EF"/>
                </a:solidFill>
                <a:latin typeface="Safiro"/>
              </a:rPr>
              <a:t>Approval on key channel partnerships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2112" y="3456432"/>
            <a:ext cx="2194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8078"/>
                </a:solidFill>
                <a:latin typeface="Safiro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10712" y="1371600"/>
            <a:ext cx="2706624" cy="4572000"/>
          </a:xfrm>
          <a:prstGeom prst="rect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10712" y="1371600"/>
            <a:ext cx="2706624" cy="54864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75304" y="1499616"/>
            <a:ext cx="24505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5F3EF"/>
                </a:solidFill>
                <a:latin typeface="Safiro"/>
              </a:rPr>
              <a:t>FINTH Thailand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5304" y="1847088"/>
            <a:ext cx="24505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F3EF"/>
                </a:solidFill>
                <a:latin typeface="Safiro"/>
              </a:rPr>
              <a:t>COMMERCIAL OPERATOR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75304" y="2139696"/>
            <a:ext cx="2377440" cy="12801"/>
          </a:xfrm>
          <a:prstGeom prst="rect">
            <a:avLst/>
          </a:prstGeom>
          <a:solidFill>
            <a:srgbClr val="3E6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75304" y="2395728"/>
            <a:ext cx="109728" cy="109728"/>
          </a:xfrm>
          <a:prstGeom prst="ellipse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9896" y="2322576"/>
            <a:ext cx="224942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3EF"/>
                </a:solidFill>
                <a:latin typeface="Safiro"/>
              </a:rPr>
              <a:t>Leads distributor selection and onboarding</a:t>
            </a:r>
          </a:p>
        </p:txBody>
      </p:sp>
      <p:sp>
        <p:nvSpPr>
          <p:cNvPr id="28" name="Oval 27"/>
          <p:cNvSpPr/>
          <p:nvPr/>
        </p:nvSpPr>
        <p:spPr>
          <a:xfrm>
            <a:off x="3575304" y="3108960"/>
            <a:ext cx="109728" cy="109728"/>
          </a:xfrm>
          <a:prstGeom prst="ellipse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39896" y="3035808"/>
            <a:ext cx="224942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3EF"/>
                </a:solidFill>
                <a:latin typeface="Safiro"/>
              </a:rPr>
              <a:t>Coordinates FDA dossiers with importer</a:t>
            </a:r>
          </a:p>
        </p:txBody>
      </p:sp>
      <p:sp>
        <p:nvSpPr>
          <p:cNvPr id="30" name="Oval 29"/>
          <p:cNvSpPr/>
          <p:nvPr/>
        </p:nvSpPr>
        <p:spPr>
          <a:xfrm>
            <a:off x="3575304" y="3822191"/>
            <a:ext cx="109728" cy="109728"/>
          </a:xfrm>
          <a:prstGeom prst="ellipse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39896" y="3749039"/>
            <a:ext cx="224942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3EF"/>
                </a:solidFill>
                <a:latin typeface="Safiro"/>
              </a:rPr>
              <a:t>Activation, training and reporting</a:t>
            </a:r>
          </a:p>
        </p:txBody>
      </p:sp>
      <p:sp>
        <p:nvSpPr>
          <p:cNvPr id="32" name="Oval 31"/>
          <p:cNvSpPr/>
          <p:nvPr/>
        </p:nvSpPr>
        <p:spPr>
          <a:xfrm>
            <a:off x="3575304" y="4535423"/>
            <a:ext cx="109728" cy="109728"/>
          </a:xfrm>
          <a:prstGeom prst="ellipse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39896" y="4462271"/>
            <a:ext cx="224942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3EF"/>
                </a:solidFill>
                <a:latin typeface="Safiro"/>
              </a:rPr>
              <a:t>On-ground brand and channel management</a:t>
            </a:r>
          </a:p>
        </p:txBody>
      </p:sp>
      <p:sp>
        <p:nvSpPr>
          <p:cNvPr id="34" name="Oval 33"/>
          <p:cNvSpPr/>
          <p:nvPr/>
        </p:nvSpPr>
        <p:spPr>
          <a:xfrm>
            <a:off x="3575304" y="5248656"/>
            <a:ext cx="109728" cy="109728"/>
          </a:xfrm>
          <a:prstGeom prst="ellipse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39896" y="5175504"/>
            <a:ext cx="224942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3EF"/>
                </a:solidFill>
                <a:latin typeface="Safiro"/>
              </a:rPr>
              <a:t>Monthly dashboard to JÄÄDE Singapore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344" y="3456432"/>
            <a:ext cx="2194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8078"/>
                </a:solidFill>
                <a:latin typeface="Safiro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9944" y="1371600"/>
            <a:ext cx="2706624" cy="4572000"/>
          </a:xfrm>
          <a:prstGeom prst="rect">
            <a:avLst/>
          </a:prstGeom>
          <a:solidFill>
            <a:srgbClr val="4A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9944" y="1371600"/>
            <a:ext cx="2706624" cy="54864"/>
          </a:xfrm>
          <a:prstGeom prst="rect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74536" y="1499616"/>
            <a:ext cx="24505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5F3EF"/>
                </a:solidFill>
                <a:latin typeface="Safiro"/>
              </a:rPr>
              <a:t>IOR / Konoike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74536" y="1847088"/>
            <a:ext cx="24505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F3EF"/>
                </a:solidFill>
                <a:latin typeface="Safiro"/>
              </a:rPr>
              <a:t>IMPORT &amp; LOGISTICS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74536" y="2139696"/>
            <a:ext cx="2377440" cy="12801"/>
          </a:xfrm>
          <a:prstGeom prst="rect">
            <a:avLst/>
          </a:prstGeom>
          <a:solidFill>
            <a:srgbClr val="3E6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574536" y="2395728"/>
            <a:ext cx="109728" cy="109728"/>
          </a:xfrm>
          <a:prstGeom prst="ellipse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39128" y="2322576"/>
            <a:ext cx="224942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3EF"/>
                </a:solidFill>
                <a:latin typeface="Safiro"/>
              </a:rPr>
              <a:t>Holds Thai FDA import licence (TFDA)</a:t>
            </a:r>
          </a:p>
        </p:txBody>
      </p:sp>
      <p:sp>
        <p:nvSpPr>
          <p:cNvPr id="44" name="Oval 43"/>
          <p:cNvSpPr/>
          <p:nvPr/>
        </p:nvSpPr>
        <p:spPr>
          <a:xfrm>
            <a:off x="6574536" y="3108960"/>
            <a:ext cx="109728" cy="109728"/>
          </a:xfrm>
          <a:prstGeom prst="ellipse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39128" y="3035808"/>
            <a:ext cx="224942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3EF"/>
                </a:solidFill>
                <a:latin typeface="Safiro"/>
              </a:rPr>
              <a:t>Customs clearance and duties</a:t>
            </a:r>
          </a:p>
        </p:txBody>
      </p:sp>
      <p:sp>
        <p:nvSpPr>
          <p:cNvPr id="46" name="Oval 45"/>
          <p:cNvSpPr/>
          <p:nvPr/>
        </p:nvSpPr>
        <p:spPr>
          <a:xfrm>
            <a:off x="6574536" y="3822191"/>
            <a:ext cx="109728" cy="109728"/>
          </a:xfrm>
          <a:prstGeom prst="ellipse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39128" y="3749039"/>
            <a:ext cx="224942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3EF"/>
                </a:solidFill>
                <a:latin typeface="Safiro"/>
              </a:rPr>
              <a:t>Warehousing and cold chain</a:t>
            </a:r>
          </a:p>
        </p:txBody>
      </p:sp>
      <p:sp>
        <p:nvSpPr>
          <p:cNvPr id="48" name="Oval 47"/>
          <p:cNvSpPr/>
          <p:nvPr/>
        </p:nvSpPr>
        <p:spPr>
          <a:xfrm>
            <a:off x="6574536" y="4535423"/>
            <a:ext cx="109728" cy="109728"/>
          </a:xfrm>
          <a:prstGeom prst="ellipse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39128" y="4462271"/>
            <a:ext cx="224942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3EF"/>
                </a:solidFill>
                <a:latin typeface="Safiro"/>
              </a:rPr>
              <a:t>Last-mile distribution logistics</a:t>
            </a:r>
          </a:p>
        </p:txBody>
      </p:sp>
      <p:sp>
        <p:nvSpPr>
          <p:cNvPr id="50" name="Oval 49"/>
          <p:cNvSpPr/>
          <p:nvPr/>
        </p:nvSpPr>
        <p:spPr>
          <a:xfrm>
            <a:off x="6574536" y="5248656"/>
            <a:ext cx="109728" cy="109728"/>
          </a:xfrm>
          <a:prstGeom prst="ellipse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39128" y="5175504"/>
            <a:ext cx="224942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3EF"/>
                </a:solidFill>
                <a:latin typeface="Safiro"/>
              </a:rPr>
              <a:t>Commercial address: Konoike warehouse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0576" y="3456432"/>
            <a:ext cx="2194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8078"/>
                </a:solidFill>
                <a:latin typeface="Safiro"/>
              </a:rPr>
              <a:t>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09176" y="1371600"/>
            <a:ext cx="2706624" cy="4572000"/>
          </a:xfrm>
          <a:prstGeom prst="rect">
            <a:avLst/>
          </a:prstGeom>
          <a:solidFill>
            <a:srgbClr val="E8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409176" y="1371600"/>
            <a:ext cx="2706624" cy="54864"/>
          </a:xfrm>
          <a:prstGeom prst="rect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73767" y="1499616"/>
            <a:ext cx="24505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E4A3E"/>
                </a:solidFill>
                <a:latin typeface="Safiro"/>
              </a:rPr>
              <a:t>Distributor partners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73767" y="1847088"/>
            <a:ext cx="24505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A7A6E"/>
                </a:solidFill>
                <a:latin typeface="Safiro"/>
              </a:rPr>
              <a:t>CHANNEL EXECUTION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73767" y="2139696"/>
            <a:ext cx="2377440" cy="12801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573767" y="2395728"/>
            <a:ext cx="109728" cy="109728"/>
          </a:xfrm>
          <a:prstGeom prst="ellipse">
            <a:avLst/>
          </a:prstGeom>
          <a:solidFill>
            <a:srgbClr val="5A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38359" y="2322576"/>
            <a:ext cx="224942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4A3E"/>
                </a:solidFill>
                <a:latin typeface="Safiro"/>
              </a:rPr>
              <a:t>Buy stock ex-warehouse from IOR</a:t>
            </a:r>
          </a:p>
        </p:txBody>
      </p:sp>
      <p:sp>
        <p:nvSpPr>
          <p:cNvPr id="60" name="Oval 59"/>
          <p:cNvSpPr/>
          <p:nvPr/>
        </p:nvSpPr>
        <p:spPr>
          <a:xfrm>
            <a:off x="9573767" y="3108960"/>
            <a:ext cx="109728" cy="109728"/>
          </a:xfrm>
          <a:prstGeom prst="ellipse">
            <a:avLst/>
          </a:prstGeom>
          <a:solidFill>
            <a:srgbClr val="5A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38359" y="3035808"/>
            <a:ext cx="224942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4A3E"/>
                </a:solidFill>
                <a:latin typeface="Safiro"/>
              </a:rPr>
              <a:t>Invoice Thai customers directly</a:t>
            </a:r>
          </a:p>
        </p:txBody>
      </p:sp>
      <p:sp>
        <p:nvSpPr>
          <p:cNvPr id="62" name="Oval 61"/>
          <p:cNvSpPr/>
          <p:nvPr/>
        </p:nvSpPr>
        <p:spPr>
          <a:xfrm>
            <a:off x="9573767" y="3822191"/>
            <a:ext cx="109728" cy="109728"/>
          </a:xfrm>
          <a:prstGeom prst="ellipse">
            <a:avLst/>
          </a:prstGeom>
          <a:solidFill>
            <a:srgbClr val="5A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38359" y="3749039"/>
            <a:ext cx="224942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4A3E"/>
                </a:solidFill>
                <a:latin typeface="Safiro"/>
              </a:rPr>
              <a:t>Carry credit risk in their lane</a:t>
            </a:r>
          </a:p>
        </p:txBody>
      </p:sp>
      <p:sp>
        <p:nvSpPr>
          <p:cNvPr id="64" name="Oval 63"/>
          <p:cNvSpPr/>
          <p:nvPr/>
        </p:nvSpPr>
        <p:spPr>
          <a:xfrm>
            <a:off x="9573767" y="4535423"/>
            <a:ext cx="109728" cy="109728"/>
          </a:xfrm>
          <a:prstGeom prst="ellipse">
            <a:avLst/>
          </a:prstGeom>
          <a:solidFill>
            <a:srgbClr val="5A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38359" y="4462271"/>
            <a:ext cx="224942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4A3E"/>
                </a:solidFill>
                <a:latin typeface="Safiro"/>
              </a:rPr>
              <a:t>Menu placements and activations</a:t>
            </a:r>
          </a:p>
        </p:txBody>
      </p:sp>
      <p:sp>
        <p:nvSpPr>
          <p:cNvPr id="66" name="Oval 65"/>
          <p:cNvSpPr/>
          <p:nvPr/>
        </p:nvSpPr>
        <p:spPr>
          <a:xfrm>
            <a:off x="9573767" y="5248656"/>
            <a:ext cx="109728" cy="109728"/>
          </a:xfrm>
          <a:prstGeom prst="ellipse">
            <a:avLst/>
          </a:prstGeom>
          <a:solidFill>
            <a:srgbClr val="5A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738359" y="5175504"/>
            <a:ext cx="224942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4A3E"/>
                </a:solidFill>
                <a:latin typeface="Safiro"/>
              </a:rPr>
              <a:t>Monthly sales reporting to FINTH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1480" y="6053328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8078"/>
                </a:solidFill>
                <a:latin typeface="Safiro"/>
              </a:rPr>
              <a:t>JÄÄDE Singapore retains final approval on importer selection, pricing structure and key channel partnerships. FINTH owns execution and coordination.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50292" cy="566928"/>
          </a:xfrm>
          <a:prstGeom prst="rect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4A3E"/>
                </a:solidFill>
                <a:latin typeface="Safiro"/>
              </a:rPr>
              <a:t>Decision and ownership timeline — 30 days to a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8078"/>
                </a:solidFill>
                <a:latin typeface="Safiro"/>
              </a:rPr>
              <a:t>The process must close with a confident recommendation to JÄÄDE Singapore, not remain as open exploration. FINTH owns the deadline.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11365992" cy="365760"/>
          </a:xfrm>
          <a:prstGeom prst="rect">
            <a:avLst/>
          </a:prstGeom>
          <a:solidFill>
            <a:srgbClr val="2E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481328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F3EF"/>
                </a:solidFill>
                <a:latin typeface="Safiro"/>
              </a:rPr>
              <a:t>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59" y="148132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F3EF"/>
                </a:solidFill>
                <a:latin typeface="Safiro"/>
              </a:rPr>
              <a:t>Owner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48132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F3EF"/>
                </a:solidFill>
                <a:latin typeface="Safiro"/>
              </a:rPr>
              <a:t>Deadline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73936"/>
            <a:ext cx="11365992" cy="658368"/>
          </a:xfrm>
          <a:prstGeom prst="rect">
            <a:avLst/>
          </a:prstGeom>
          <a:solidFill>
            <a:srgbClr val="E8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773936"/>
            <a:ext cx="54864" cy="658368"/>
          </a:xfrm>
          <a:prstGeom prst="rect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901952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530"/>
                </a:solidFill>
                <a:latin typeface="Safiro"/>
              </a:rPr>
              <a:t>Exclusivity model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59" y="1901952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8078"/>
                </a:solidFill>
                <a:latin typeface="Safiro"/>
              </a:rPr>
              <a:t>JÄÄDE Singapore with FINTH 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901952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C7A52"/>
                </a:solidFill>
                <a:latin typeface="Safiro"/>
              </a:rPr>
              <a:t>This week — before any outreach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432304"/>
            <a:ext cx="11365992" cy="658368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2560320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3530"/>
                </a:solidFill>
                <a:latin typeface="Safiro"/>
              </a:rPr>
              <a:t>Distributor pitch pack 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59" y="256032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8078"/>
                </a:solidFill>
                <a:latin typeface="Safiro"/>
              </a:rPr>
              <a:t>FINTH Thailand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56032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655E"/>
                </a:solidFill>
                <a:latin typeface="Safiro"/>
              </a:rPr>
              <a:t>Before Wave 1 outreach begins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090672"/>
            <a:ext cx="11365992" cy="658368"/>
          </a:xfrm>
          <a:prstGeom prst="rect">
            <a:avLst/>
          </a:prstGeom>
          <a:solidFill>
            <a:srgbClr val="E8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218688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3530"/>
                </a:solidFill>
                <a:latin typeface="Safiro"/>
              </a:rPr>
              <a:t>Wave 1 outreach — IHC, Lovely Wines, Water Library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59" y="3218688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8078"/>
                </a:solidFill>
                <a:latin typeface="Safiro"/>
              </a:rPr>
              <a:t>FINTH Thailand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21868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655E"/>
                </a:solidFill>
                <a:latin typeface="Safiro"/>
              </a:rPr>
              <a:t>Within 2 weeks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749039"/>
            <a:ext cx="11365992" cy="658368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" y="3877055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3530"/>
                </a:solidFill>
                <a:latin typeface="Safiro"/>
              </a:rPr>
              <a:t>Wave 2 outreach — BB&amp;B, Vanichwathana, Siam Food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3877055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8078"/>
                </a:solidFill>
                <a:latin typeface="Safiro"/>
              </a:rPr>
              <a:t>FINTH Thailand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3877055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655E"/>
                </a:solidFill>
                <a:latin typeface="Safiro"/>
              </a:rPr>
              <a:t>Weeks 2 to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407408"/>
            <a:ext cx="11365992" cy="658368"/>
          </a:xfrm>
          <a:prstGeom prst="rect">
            <a:avLst/>
          </a:prstGeom>
          <a:solidFill>
            <a:srgbClr val="E8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4407408"/>
            <a:ext cx="54864" cy="658368"/>
          </a:xfrm>
          <a:prstGeom prst="rect">
            <a:avLst/>
          </a:prstGeom>
          <a:solidFill>
            <a:srgbClr val="9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4535424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530"/>
                </a:solidFill>
                <a:latin typeface="Safiro"/>
              </a:rPr>
              <a:t>Distributor scorecard and recommendation to JÄÄDE Singapore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59" y="4535424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8078"/>
                </a:solidFill>
                <a:latin typeface="Safiro"/>
              </a:rPr>
              <a:t>FINTH Thailand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4535424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C7A52"/>
                </a:solidFill>
                <a:latin typeface="Safiro"/>
              </a:rPr>
              <a:t>Within 30 days of first Wave 1 meeting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065775"/>
            <a:ext cx="11365992" cy="658368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" y="5193791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3530"/>
                </a:solidFill>
                <a:latin typeface="Safiro"/>
              </a:rPr>
              <a:t>Final distributor contract structure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59" y="5193791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8078"/>
                </a:solidFill>
                <a:latin typeface="Safiro"/>
              </a:rPr>
              <a:t>JÄÄDE Singapore with FINTH support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5193791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655E"/>
                </a:solidFill>
                <a:latin typeface="Safiro"/>
              </a:rPr>
              <a:t>Days 31 to 45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053328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8078"/>
                </a:solidFill>
                <a:latin typeface="Safiro"/>
              </a:rPr>
              <a:t>After Wave 1 meetings: score each candidate on water credentials, account overlap, co-investment appetite, data discipline and brand values fit. Five criteria. One preferred structure. Thirty days.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4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C7A52"/>
                </a:solidFill>
                <a:latin typeface="Safiro"/>
              </a:rPr>
              <a:t>FINTH recommends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2471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5F3EF"/>
                </a:solidFill>
                <a:latin typeface="Safiro"/>
              </a:rPr>
              <a:t>Six decisions and actions
to move from assessment to appointment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1672" cy="18288"/>
          </a:xfrm>
          <a:prstGeom prst="rect">
            <a:avLst/>
          </a:prstGeom>
          <a:solidFill>
            <a:srgbClr val="3E6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C7A52"/>
                </a:solidFill>
                <a:latin typeface="Safir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1536192"/>
            <a:ext cx="4828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3EF"/>
                </a:solidFill>
                <a:latin typeface="Safiro"/>
              </a:rPr>
              <a:t>Adopt channel-based exclusivity as the default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1901952"/>
            <a:ext cx="48280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2BC"/>
                </a:solidFill>
                <a:latin typeface="Safiro"/>
              </a:rPr>
              <a:t>Grant one partner exclusivity in the hospitality on-trade lane in exchange for measurable placement and volume commitments. Reserve modern trade, schools and e-commerce for future specialist appointments.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36192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C7A52"/>
                </a:solidFill>
                <a:latin typeface="Safiro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7728" y="1536192"/>
            <a:ext cx="4828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3EF"/>
                </a:solidFill>
                <a:latin typeface="Safiro"/>
              </a:rPr>
              <a:t>Prioritise IHC, Lovely Wines and Water Library for Wave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7728" y="1901952"/>
            <a:ext cx="48280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2BC"/>
                </a:solidFill>
                <a:latin typeface="Safiro"/>
              </a:rPr>
              <a:t>These three have direct mineral water credentials and brand philosophy aligned with JÄÄDE. Contact all three within two weeks. Open with a meeting request only.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62656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C7A52"/>
                </a:solidFill>
                <a:latin typeface="Safiro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962656"/>
            <a:ext cx="4828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3EF"/>
                </a:solidFill>
                <a:latin typeface="Safiro"/>
              </a:rPr>
              <a:t>Use BB&amp;B, Siam Food and Vanichwathana for Wave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3328416"/>
            <a:ext cx="48280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2BC"/>
                </a:solidFill>
                <a:latin typeface="Safiro"/>
              </a:rPr>
              <a:t>Regional coverage, hotel bar access and chef-led procurement relationships. Approach in parallel once Wave 1 conversations are open. Resolve Santa Vittoria conflict at BB&amp;B first.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62656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C7A52"/>
                </a:solidFill>
                <a:latin typeface="Safiro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2962656"/>
            <a:ext cx="4828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3EF"/>
                </a:solidFill>
                <a:latin typeface="Safiro"/>
              </a:rPr>
              <a:t>Hold Ambrose, IWS, 3sixty and PACBEV for later phases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3328416"/>
            <a:ext cx="48280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2BC"/>
                </a:solidFill>
                <a:latin typeface="Safiro"/>
              </a:rPr>
              <a:t>VOSS conflict at Ambrose, scale dilution risk at IWS, and retail or craft-focus elsewhere make these unsuitable for the premium hospitality launch. Revisit in Year 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89120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C7A52"/>
                </a:solidFill>
                <a:latin typeface="Safiro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389120"/>
            <a:ext cx="4828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3EF"/>
                </a:solidFill>
                <a:latin typeface="Safiro"/>
              </a:rPr>
              <a:t>Enforce a 30-day recommendation deadline after Wave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754880"/>
            <a:ext cx="48280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2BC"/>
                </a:solidFill>
                <a:latin typeface="Safiro"/>
              </a:rPr>
              <a:t>FINTH recommends a preferred distributor structure to JÄÄDE Singapore within 30 days of the first Wave 1 meeting. Not a target — a deadline.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389120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C7A52"/>
                </a:solidFill>
                <a:latin typeface="Safiro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4389120"/>
            <a:ext cx="4828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3EF"/>
                </a:solidFill>
                <a:latin typeface="Safiro"/>
              </a:rPr>
              <a:t>Formalise FINTH's role and fees before outreach begins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4754880"/>
            <a:ext cx="48280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2BC"/>
                </a:solidFill>
                <a:latin typeface="Safiro"/>
              </a:rPr>
              <a:t>Service retainer and success fees for regulatory coordination, distributor management, activation and reporting. Not a share of distributor margin.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583680"/>
            <a:ext cx="11091672" cy="16459"/>
          </a:xfrm>
          <a:prstGeom prst="rect">
            <a:avLst/>
          </a:prstGeom>
          <a:solidFill>
            <a:srgbClr val="3E6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9088"/>
                </a:solidFill>
                <a:latin typeface="Safiro"/>
              </a:rPr>
              <a:t>FINTH for JÄÄDE Singapore  ·  Thailand market entry  ·  April 2026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